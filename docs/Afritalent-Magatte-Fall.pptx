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</p:embeddedFont>
    <p:embeddedFont>
      <p:font typeface="Poppins" panose="00000500000000000000" pitchFamily="2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2B372F-EC5C-48D6-9EFF-CD402698947F}">
  <a:tblStyle styleId="{692B372F-EC5C-48D6-9EFF-CD402698947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6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A fragment of crumpled white fabric as a background texture.Crumpled white linen or cotton fabric. (fourni par Getty Images)"/>
          <p:cNvPicPr preferRelativeResize="0"/>
          <p:nvPr/>
        </p:nvPicPr>
        <p:blipFill rotWithShape="1">
          <a:blip r:embed="rId3">
            <a:alphaModFix/>
          </a:blip>
          <a:srcRect t="7798" b="7807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064097"/>
            <a:ext cx="11601600" cy="8082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AfriTalent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64247"/>
            <a:ext cx="11049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Valoriser l'expertise numérique africaine.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Plateforme de mise en relation stratégique entre talents tech et opportunités globales.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376588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Présenté par Magatte Fall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5619750" y="2915542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155507" y="3144142"/>
            <a:ext cx="78809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Vision et Objectifs Stratégiques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343150" y="3668017"/>
            <a:ext cx="7505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Connecter le potentiel technologique de l'Afrique avec la demande croissante du marché international.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55565"/>
            <a:ext cx="5286375" cy="2099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855565"/>
            <a:ext cx="5286375" cy="20992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Objectifs du Projet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26055" y="571500"/>
            <a:ext cx="95250" cy="571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315084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Inclusion Numérique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66775" y="3693765"/>
            <a:ext cx="46958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Faciliter l'accès aux missions internationales pour les freelances résidant en Afrique, sans barrières géographiques ou administratives.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29400" y="315084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Écosystème de Confiance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629400" y="3693765"/>
            <a:ext cx="46958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Créer un tiers de confiance garantissant la qualité des livrables pour les entreprises et la sécurité des paiements pour les freelances.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Le Potentiel Tech en Afrique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71500" y="2000250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L'Afrique connaît une accélération sans précédent de sa révolution numérique :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3950791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AfriTalent se positionne comme l'accélérateur de cette transition pour les talents locaux.</a:t>
            </a:r>
            <a:endParaRPr/>
          </a:p>
        </p:txBody>
      </p:sp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857250" y="27002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52500" y="270123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Pénétration internet mobile passée de 3% à 40% en 15 ans.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57250" y="29745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52500" y="2975520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Émergence de hubs technologiques majeurs (Dakar, Lagos, Nairobi).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57250" y="352314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52500" y="3524101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Besoin critique d'experts en Cyber-sécurité, IA et Cloud.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Fonctionnalités : Côté Freelance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734217" y="3450877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Profil Certifié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09625" y="3993802"/>
            <a:ext cx="30162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Création d'un profil détaillé avec validation des compétences et intégration de portfolio.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512517" y="3450877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Recherche Avancée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587924" y="3993802"/>
            <a:ext cx="30162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Filtres par technologies, TJM, durée et type de mission (Full Remote / Hybride).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290816" y="3450877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Paiements Sécurisés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366224" y="3993802"/>
            <a:ext cx="30162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Système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paiement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garanti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 mise sous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séquestre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(Escrow)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adapté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aux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réalités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locales.</a:t>
            </a:r>
            <a:endParaRPr dirty="0"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9575" y="284127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500" y="284127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83799" y="284127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Fonctionnalités : Côté Recruteur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734217" y="3450877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Dépôt de Mission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09625" y="3993802"/>
            <a:ext cx="30162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Publication structurée des besoins techniques avec matching automatique des profils.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4512517" y="3450877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Messagerie Directe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4587924" y="3993802"/>
            <a:ext cx="30162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Interface de communication sécurisée pour les entretiens techniques et le suivi.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290816" y="3450877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Tableau de Bord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366224" y="3993802"/>
            <a:ext cx="30162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Suivi en temps réel de l'avancement des missions et gestion centralisée de la facturation.</a:t>
            </a:r>
            <a:endParaRPr/>
          </a:p>
        </p:txBody>
      </p:sp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3387" y="284127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7875" y="284127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83799" y="284127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Domaines d'Intervention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" name="Google Shape;170;p19"/>
          <p:cNvGraphicFramePr/>
          <p:nvPr>
            <p:extLst>
              <p:ext uri="{D42A27DB-BD31-4B8C-83A1-F6EECF244321}">
                <p14:modId xmlns:p14="http://schemas.microsoft.com/office/powerpoint/2010/main" val="194693301"/>
              </p:ext>
            </p:extLst>
          </p:nvPr>
        </p:nvGraphicFramePr>
        <p:xfrm>
          <a:off x="571500" y="2485167"/>
          <a:ext cx="11048975" cy="2811625"/>
        </p:xfrm>
        <a:graphic>
          <a:graphicData uri="http://schemas.openxmlformats.org/drawingml/2006/table">
            <a:tbl>
              <a:tblPr firstRow="1" bandRow="1">
                <a:noFill/>
                <a:tableStyleId>{692B372F-EC5C-48D6-9EFF-CD402698947F}</a:tableStyleId>
              </a:tblPr>
              <a:tblGrid>
                <a:gridCol w="294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Catégorie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Spécialités Clés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Outils &amp; Stacks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Développement Web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Frontend, Backend, Fullstack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React, Node.js, PHP, Python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Design UI/UX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Interfaces, Prototypage, Recherche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Figma, Adobe XD, Sketch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&amp; 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Science, ML, Big 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TensorFlow, Spark, Power BI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DevOps &amp; Cloud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Infrastructure, Automatisation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Docker, Kubernetes, AWS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1" name="Google Shape;171;p19"/>
          <p:cNvSpPr/>
          <p:nvPr/>
        </p:nvSpPr>
        <p:spPr>
          <a:xfrm>
            <a:off x="571500" y="3018532"/>
            <a:ext cx="29482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3519785" y="3018532"/>
            <a:ext cx="44224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7942212" y="3018532"/>
            <a:ext cx="3678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71500" y="3588097"/>
            <a:ext cx="29482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3519785" y="3588097"/>
            <a:ext cx="44224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7942212" y="3588097"/>
            <a:ext cx="3678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71500" y="4157662"/>
            <a:ext cx="29482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3519785" y="4157662"/>
            <a:ext cx="44224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7942212" y="4157662"/>
            <a:ext cx="3678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571500" y="4727227"/>
            <a:ext cx="29482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3519785" y="4727227"/>
            <a:ext cx="44224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7942212" y="4727227"/>
            <a:ext cx="3678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71500" y="5296792"/>
            <a:ext cx="29482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3519785" y="5296792"/>
            <a:ext cx="44224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7942212" y="5296792"/>
            <a:ext cx="3678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Marché IT Africain : Prévisions 2030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200590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Estimation de la valeur du marché des services numériques (en Milliards USD)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Compétences les plus Demandées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462528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 : Analyse des offres publiées (AfriTalent Monitor 2024)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Roadmap du Développement</a:t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571500" y="3374677"/>
            <a:ext cx="243066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Phase 1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1691580" y="379184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571500" y="4125217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MVP : Lancement plateforme &amp; Profils certifiés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3444180" y="3374677"/>
            <a:ext cx="243066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Phase 2</a:t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4564260" y="379184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3444180" y="4125217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Paiement sécurisé &amp; Gestion de litiges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316860" y="3374677"/>
            <a:ext cx="243066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Phase 3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7436941" y="379184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6316860" y="4125217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Expansion : Afrique de l'Ouest &amp; Centrale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9189541" y="3374677"/>
            <a:ext cx="243066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Phase 4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10309621" y="379184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9189541" y="4125217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Matching intelligent via IA (IA-Match Engine)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571500" y="3708052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40309"/>
            <a:ext cx="3492549" cy="3329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240309"/>
            <a:ext cx="3492549" cy="3329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240309"/>
            <a:ext cx="3492549" cy="3329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Nos Engagements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734217" y="4050059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Innovation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809625" y="4592984"/>
            <a:ext cx="30162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Anticiper les besoins technologiques de demain.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4512517" y="4050059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Communauté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4587924" y="4592984"/>
            <a:ext cx="30162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Favoriser l'entraide et le mentorat tech.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8290816" y="4050059"/>
            <a:ext cx="316711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Excellence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8366224" y="4592984"/>
            <a:ext cx="30162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Garantir une qualité de service irréprochable.</a:t>
            </a:r>
            <a:endParaRPr/>
          </a:p>
        </p:txBody>
      </p:sp>
      <p:pic>
        <p:nvPicPr>
          <p:cNvPr id="240" name="Google Shape;24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2478434"/>
            <a:ext cx="3016299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87924" y="2478434"/>
            <a:ext cx="3016299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66224" y="2478434"/>
            <a:ext cx="3016299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/>
        </p:nvSpPr>
        <p:spPr>
          <a:xfrm>
            <a:off x="3475672" y="1844129"/>
            <a:ext cx="524065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Questions et Collaboration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3600450" y="2463254"/>
            <a:ext cx="49911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Merci pour votre attention. Rejoignez la révolution AfriTalent.</a:t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5619750" y="4429125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3600450" y="4657725"/>
            <a:ext cx="49911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© 2024 AfriTalent - Dakar, Sénégal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3790950" y="3213794"/>
            <a:ext cx="46101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Contact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contact@afritalent.com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3790950" y="3630959"/>
            <a:ext cx="46101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Site Web 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msfvenom-0.github.io/FALL-MAGATTE-AfriTalent/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2043261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302612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400898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30165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30165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39994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39994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47842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71500" y="47842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9180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1666875" y="218613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https://plus.unsplash.com/premium_photo-1682141040557-bdffedea0906?fm=jpg&amp;q=60&amp;w=3000&amp;auto=format&amp;fit=crop&amp;ixlib=rb-4.1.0&amp;ixid=M3wxMjA3fDB8MHxwaG90by1wYWdlfHx8fGVufDB8fHx8fA%3D%3D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1666875" y="262994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unsplash.com</a:t>
            </a:r>
            <a:endParaRPr/>
          </a:p>
        </p:txBody>
      </p:sp>
      <p:pic>
        <p:nvPicPr>
          <p:cNvPr id="274" name="Google Shape;27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746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1666875" y="316899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https://static.vecteezy.com/system/resources/previews/072/832/825/non_2x/abstract-dark-futuristic-technology-background-with-glowing-hexagon-circuit-connections-gradient-blue-and-purple-lines-digital-network-pattern-data-flow-ai-innovation-blockchain-cyber-tech-vector.jpg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1666875" y="361280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id="277" name="Google Shape;27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584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1666875" y="415185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https://edutech.global/wp-content/uploads/2025/07/BLOG-14-image-4-1-1024x717.png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1666875" y="439757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edutech.global</a:t>
            </a:r>
            <a:endParaRPr/>
          </a:p>
        </p:txBody>
      </p:sp>
      <p:pic>
        <p:nvPicPr>
          <p:cNvPr id="280" name="Google Shape;28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422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1666875" y="493662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https://static.vecteezy.com/system/resources/previews/049/774/211/large_2x/young-african-american-businesswoman-in-office-using-laptop-smiling-and-showing-success-professional-work-environment-with-modern-technology-and-determined-expression-photo.jpg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666875" y="538043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C212D8-923A-9111-416E-8F580BE9C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7655" y="2435091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fr-FR" sz="9600" dirty="0"/>
              <a:t>Merci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1110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600</Words>
  <Application>Microsoft Office PowerPoint</Application>
  <PresentationFormat>Grand écran</PresentationFormat>
  <Paragraphs>84</Paragraphs>
  <Slides>14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Poppins</vt:lpstr>
      <vt:lpstr>Lato</vt:lpstr>
      <vt:lpstr>Calibri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Maguette Fall</cp:lastModifiedBy>
  <cp:revision>2</cp:revision>
  <dcterms:modified xsi:type="dcterms:W3CDTF">2026-07-02T23:33:33Z</dcterms:modified>
</cp:coreProperties>
</file>